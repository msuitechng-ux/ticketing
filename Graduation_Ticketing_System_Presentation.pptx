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Graduation Guest Ticketing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Northumbria University London Campus</a:t>
            </a:r>
          </a:p>
          <a:p>
            <a:r>
              <a:t>LD7206 Module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Purpose: Manage graduation ceremony guest tickets from allocation to entry verification</a:t>
            </a:r>
          </a:p>
          <a:p>
            <a:pPr>
              <a:spcAft>
                <a:spcPts val="1200"/>
              </a:spcAft>
              <a:defRPr sz="1800"/>
            </a:pPr>
            <a:r>
              <a:t>Designed for: Northumbria University London Campus graduation ceremonies</a:t>
            </a:r>
          </a:p>
          <a:p>
            <a:pPr>
              <a:spcAft>
                <a:spcPts val="1200"/>
              </a:spcAft>
              <a:defRPr sz="1800"/>
            </a:pPr>
            <a:r>
              <a:t>Stakeholders: Students (Graduates), Administrators, Security Staff, Registry</a:t>
            </a:r>
          </a:p>
          <a:p>
            <a:pPr>
              <a:spcAft>
                <a:spcPts val="1200"/>
              </a:spcAft>
              <a:defRPr sz="1800"/>
            </a:pPr>
            <a:r>
              <a:t>Key Functions: Ticket allocation, request management, QR verification, fraud detection</a:t>
            </a:r>
          </a:p>
          <a:p>
            <a:pPr>
              <a:spcAft>
                <a:spcPts val="1200"/>
              </a:spcAft>
              <a:defRPr sz="1800"/>
            </a:pPr>
            <a:r>
              <a:t>Complete lifecycle management from registration through entry logging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Modern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886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03366"/>
                </a:solidFill>
              </a:defRPr>
            </a:pPr>
            <a:r>
              <a:t>Backend</a:t>
            </a:r>
          </a:p>
          <a:p>
            <a:pPr>
              <a:spcAft>
                <a:spcPts val="800"/>
              </a:spcAft>
              <a:defRPr sz="1600"/>
            </a:pPr>
            <a:r>
              <a:t>• Laravel 12 (PHP 8.3)</a:t>
            </a:r>
          </a:p>
          <a:p>
            <a:pPr>
              <a:spcAft>
                <a:spcPts val="800"/>
              </a:spcAft>
              <a:defRPr sz="1600"/>
            </a:pPr>
            <a:r>
              <a:t>• Laravel Fortify - Authentication &amp; 2FA</a:t>
            </a:r>
          </a:p>
          <a:p>
            <a:pPr>
              <a:spcAft>
                <a:spcPts val="800"/>
              </a:spcAft>
              <a:defRPr sz="1600"/>
            </a:pPr>
            <a:r>
              <a:t>• Spatie Permissions - RBAC</a:t>
            </a:r>
          </a:p>
          <a:p>
            <a:pPr>
              <a:spcAft>
                <a:spcPts val="800"/>
              </a:spcAft>
              <a:defRPr sz="1600"/>
            </a:pPr>
            <a:r>
              <a:t>• DomPDF &amp; FPDF - PDF generation</a:t>
            </a:r>
          </a:p>
          <a:p>
            <a:pPr>
              <a:spcAft>
                <a:spcPts val="800"/>
              </a:spcAft>
              <a:defRPr sz="1600"/>
            </a:pPr>
            <a:r>
              <a:t>• Endroid QR Code - QR generation</a:t>
            </a:r>
          </a:p>
          <a:p>
            <a:pPr>
              <a:spcAft>
                <a:spcPts val="800"/>
              </a:spcAft>
              <a:defRPr sz="1600"/>
            </a:pPr>
            <a:r>
              <a:t>• Laravel Wayfinder - Type-safe routing</a:t>
            </a:r>
          </a:p>
          <a:p>
            <a:pPr>
              <a:spcAft>
                <a:spcPts val="800"/>
              </a:spcAft>
              <a:defRPr sz="1600"/>
            </a:pPr>
            <a:r>
              <a:t>• Eloquent ORM - Database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645920"/>
            <a:ext cx="3886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03366"/>
                </a:solidFill>
              </a:defRPr>
            </a:pPr>
            <a:r>
              <a:t>Frontend</a:t>
            </a:r>
          </a:p>
          <a:p>
            <a:pPr>
              <a:spcAft>
                <a:spcPts val="800"/>
              </a:spcAft>
              <a:defRPr sz="1600"/>
            </a:pPr>
            <a:r>
              <a:t>• Vue 3 with TypeScript</a:t>
            </a:r>
          </a:p>
          <a:p>
            <a:pPr>
              <a:spcAft>
                <a:spcPts val="800"/>
              </a:spcAft>
              <a:defRPr sz="1600"/>
            </a:pPr>
            <a:r>
              <a:t>• Inertia.js v2 - SSR framework</a:t>
            </a:r>
          </a:p>
          <a:p>
            <a:pPr>
              <a:spcAft>
                <a:spcPts val="800"/>
              </a:spcAft>
              <a:defRPr sz="1600"/>
            </a:pPr>
            <a:r>
              <a:t>• TailwindCSS v4 - Styling</a:t>
            </a:r>
          </a:p>
          <a:p>
            <a:pPr>
              <a:spcAft>
                <a:spcPts val="800"/>
              </a:spcAft>
              <a:defRPr sz="1600"/>
            </a:pPr>
            <a:r>
              <a:t>• PrimeVue 4.5 - UI components</a:t>
            </a:r>
          </a:p>
          <a:p>
            <a:pPr>
              <a:spcAft>
                <a:spcPts val="800"/>
              </a:spcAft>
              <a:defRPr sz="1600"/>
            </a:pPr>
            <a:r>
              <a:t>• Chart.js 4.5 - Data visualization</a:t>
            </a:r>
          </a:p>
          <a:p>
            <a:pPr>
              <a:spcAft>
                <a:spcPts val="800"/>
              </a:spcAft>
              <a:defRPr sz="1600"/>
            </a:pPr>
            <a:r>
              <a:t>• Vite 7 - Fast module bundling</a:t>
            </a:r>
          </a:p>
          <a:p>
            <a:pPr>
              <a:spcAft>
                <a:spcPts val="800"/>
              </a:spcAft>
              <a:defRPr sz="1600"/>
            </a:pPr>
            <a:r>
              <a:t>• ESLint &amp; Prettier - Code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Core Data Models &amp;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User: Multi-role accounts (Admin, Student, Security Staff, Registry)</a:t>
            </a:r>
          </a:p>
          <a:p>
            <a:pPr>
              <a:spcAft>
                <a:spcPts val="1200"/>
              </a:spcAft>
              <a:defRPr sz="1800"/>
            </a:pPr>
            <a:r>
              <a:t>Graduate: Student information, degree level, faculty, department</a:t>
            </a:r>
          </a:p>
          <a:p>
            <a:pPr>
              <a:spcAft>
                <a:spcPts val="1200"/>
              </a:spcAft>
              <a:defRPr sz="1800"/>
            </a:pPr>
            <a:r>
              <a:t>Ceremony: Event details, capacity, deadlines, ticket allocation rules</a:t>
            </a:r>
          </a:p>
          <a:p>
            <a:pPr>
              <a:spcAft>
                <a:spcPts val="1200"/>
              </a:spcAft>
              <a:defRPr sz="1800"/>
            </a:pPr>
            <a:r>
              <a:t>Ticket: QR codes, status tracking, type (Base/Extra/Redistributed)</a:t>
            </a:r>
          </a:p>
          <a:p>
            <a:pPr>
              <a:spcAft>
                <a:spcPts val="1200"/>
              </a:spcAft>
              <a:defRPr sz="1800"/>
            </a:pPr>
            <a:r>
              <a:t>TicketRequest: Student requests for additional tickets with approval workflow</a:t>
            </a:r>
          </a:p>
          <a:p>
            <a:pPr>
              <a:spcAft>
                <a:spcPts val="1200"/>
              </a:spcAft>
              <a:defRPr sz="1800"/>
            </a:pPr>
            <a:r>
              <a:t>EntryLog: Complete audit trail of all entry attempts with fraud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Features - Administration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Ceremony Management: Create ceremonies with capacity, deadlines, ticket limits</a:t>
            </a:r>
          </a:p>
          <a:p>
            <a:pPr>
              <a:spcAft>
                <a:spcPts val="1200"/>
              </a:spcAft>
              <a:defRPr sz="1800"/>
            </a:pPr>
            <a:r>
              <a:t>Graduate Management: Manual entry or bulk CSV import with auto ticket allocation</a:t>
            </a:r>
          </a:p>
          <a:p>
            <a:pPr>
              <a:spcAft>
                <a:spcPts val="1200"/>
              </a:spcAft>
              <a:defRPr sz="1800"/>
            </a:pPr>
            <a:r>
              <a:t>Ticket Allocation: Automatic base ticket assignment on graduate registration</a:t>
            </a:r>
          </a:p>
          <a:p>
            <a:pPr>
              <a:spcAft>
                <a:spcPts val="1200"/>
              </a:spcAft>
              <a:defRPr sz="1800"/>
            </a:pPr>
            <a:r>
              <a:t>Request Processing: Approve, deny, waitlist, or partially approve ticket requests</a:t>
            </a:r>
          </a:p>
          <a:p>
            <a:pPr>
              <a:spcAft>
                <a:spcPts val="1200"/>
              </a:spcAft>
              <a:defRPr sz="1800"/>
            </a:pPr>
            <a:r>
              <a:t>Batch Operations: Process multiple requests simultaneously for efficiency</a:t>
            </a:r>
          </a:p>
          <a:p>
            <a:pPr>
              <a:spcAft>
                <a:spcPts val="1200"/>
              </a:spcAft>
              <a:defRPr sz="1800"/>
            </a:pPr>
            <a:r>
              <a:t>Analytics Dashboard: Real-time metrics, charts, utilization rates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Features - Student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Student Portal: View tickets, submit requests, download QR codes as PDF</a:t>
            </a:r>
          </a:p>
          <a:p>
            <a:pPr>
              <a:spcAft>
                <a:spcPts val="1200"/>
              </a:spcAft>
              <a:defRPr sz="1800"/>
            </a:pPr>
            <a:r>
              <a:t>QR Code Generation: Unique codes with cryptographic checksums</a:t>
            </a:r>
          </a:p>
          <a:p>
            <a:pPr>
              <a:spcAft>
                <a:spcPts val="1200"/>
              </a:spcAft>
              <a:defRPr sz="1800"/>
            </a:pPr>
            <a:r>
              <a:t>Entry Verification: Real-time QR scanning with fraud detection</a:t>
            </a:r>
          </a:p>
          <a:p>
            <a:pPr>
              <a:spcAft>
                <a:spcPts val="1200"/>
              </a:spcAft>
              <a:defRPr sz="1800"/>
            </a:pPr>
            <a:r>
              <a:t>Ticket Downloads: Individual PDFs or bulk ZIP file downloads</a:t>
            </a:r>
          </a:p>
          <a:p>
            <a:pPr>
              <a:spcAft>
                <a:spcPts val="1200"/>
              </a:spcAft>
              <a:defRPr sz="1800"/>
            </a:pPr>
            <a:r>
              <a:t>Request Tracking: Real-time status updates with admin feedback</a:t>
            </a:r>
          </a:p>
          <a:p>
            <a:pPr>
              <a:spcAft>
                <a:spcPts val="1200"/>
              </a:spcAft>
              <a:defRPr sz="1800"/>
            </a:pPr>
            <a:r>
              <a:t>Entry Logging: Complete audit trail of all verification attempts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Role-Based 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886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03366"/>
                </a:solidFill>
              </a:defRPr>
            </a:pPr>
            <a:r>
              <a:t>Administrative Roles</a:t>
            </a:r>
          </a:p>
          <a:p>
            <a:pPr>
              <a:spcAft>
                <a:spcPts val="800"/>
              </a:spcAft>
              <a:defRPr sz="1600"/>
            </a:pPr>
            <a:r>
              <a:t>• Admin: Full system access, manage ceremonies, graduates, tickets</a:t>
            </a:r>
          </a:p>
          <a:p>
            <a:pPr>
              <a:spcAft>
                <a:spcPts val="800"/>
              </a:spcAft>
              <a:defRPr sz="1600"/>
            </a:pPr>
            <a:r>
              <a:t>• Registry: Bulk import graduates, manage student data</a:t>
            </a:r>
          </a:p>
          <a:p>
            <a:pPr>
              <a:spcAft>
                <a:spcPts val="800"/>
              </a:spcAft>
              <a:defRPr sz="1600"/>
            </a:pPr>
            <a:r>
              <a:t>• Event Staff: View analytics and ceremony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645920"/>
            <a:ext cx="3886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03366"/>
                </a:solidFill>
              </a:defRPr>
            </a:pPr>
            <a:r>
              <a:t>Operational Roles</a:t>
            </a:r>
          </a:p>
          <a:p>
            <a:pPr>
              <a:spcAft>
                <a:spcPts val="800"/>
              </a:spcAft>
              <a:defRPr sz="1600"/>
            </a:pPr>
            <a:r>
              <a:t>• Student: View own tickets/requests, submit requests, download QRs</a:t>
            </a:r>
          </a:p>
          <a:p>
            <a:pPr>
              <a:spcAft>
                <a:spcPts val="800"/>
              </a:spcAft>
              <a:defRPr sz="1600"/>
            </a:pPr>
            <a:r>
              <a:t>• Security Staff: Scan/verify tickets, view entry logs, review fraud cases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Complete Ticket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1. Graduate Registration → Base tickets automatically allocated (Active)</a:t>
            </a:r>
          </a:p>
          <a:p>
            <a:pPr>
              <a:spcAft>
                <a:spcPts val="1200"/>
              </a:spcAft>
              <a:defRPr sz="1800"/>
            </a:pPr>
            <a:r>
              <a:t>2. Student Submits Extra Request → Admin receives notification</a:t>
            </a:r>
          </a:p>
          <a:p>
            <a:pPr>
              <a:spcAft>
                <a:spcPts val="1200"/>
              </a:spcAft>
              <a:defRPr sz="1800"/>
            </a:pPr>
            <a:r>
              <a:t>3. Admin Reviews → Approve/Deny/Waitlist/Partially Approve</a:t>
            </a:r>
          </a:p>
          <a:p>
            <a:pPr>
              <a:spcAft>
                <a:spcPts val="1200"/>
              </a:spcAft>
              <a:defRPr sz="1800"/>
            </a:pPr>
            <a:r>
              <a:t>4. Approved Tickets Created → QR codes generated with checksums</a:t>
            </a:r>
          </a:p>
          <a:p>
            <a:pPr>
              <a:spcAft>
                <a:spcPts val="1200"/>
              </a:spcAft>
              <a:defRPr sz="1800"/>
            </a:pPr>
            <a:r>
              <a:t>5. Student Downloads → PDF with embedded QR code</a:t>
            </a:r>
          </a:p>
          <a:p>
            <a:pPr>
              <a:spcAft>
                <a:spcPts val="1200"/>
              </a:spcAft>
              <a:defRPr sz="1800"/>
            </a:pPr>
            <a:r>
              <a:t>6. Entry Verification → Security staff scans QR at ceremony</a:t>
            </a:r>
          </a:p>
          <a:p>
            <a:pPr>
              <a:spcAft>
                <a:spcPts val="1200"/>
              </a:spcAft>
              <a:defRPr sz="1800"/>
            </a:pPr>
            <a:r>
              <a:t>7. Status Updated → Ticket marked as Used, entry logged</a:t>
            </a:r>
          </a:p>
          <a:p>
            <a:pPr>
              <a:spcAft>
                <a:spcPts val="1200"/>
              </a:spcAft>
              <a:defRPr sz="1800"/>
            </a:pPr>
            <a:r>
              <a:t>8. Redistribution → Unused tickets reallocated to waitlist if deadline passed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Sophisticated QR Code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Cryptographic Validation: Each QR contains SHA256 checksum</a:t>
            </a:r>
          </a:p>
          <a:p>
            <a:pPr>
              <a:spcAft>
                <a:spcPts val="1200"/>
              </a:spcAft>
              <a:defRPr sz="1800"/>
            </a:pPr>
            <a:r>
              <a:t>Data Structure: JSON with ticket_id, code, ceremony_id, graduate_id, type, checksum</a:t>
            </a:r>
          </a:p>
          <a:p>
            <a:pPr>
              <a:spcAft>
                <a:spcPts val="1200"/>
              </a:spcAft>
              <a:defRPr sz="1800"/>
            </a:pPr>
            <a:r>
              <a:t>Base64 Encoding: Optimized for PDF embedding and scanning</a:t>
            </a:r>
          </a:p>
          <a:p>
            <a:pPr>
              <a:spcAft>
                <a:spcPts val="1200"/>
              </a:spcAft>
              <a:defRPr sz="1800"/>
            </a:pPr>
            <a:r>
              <a:t>PDF Generation: Professional ticket design with embedded QR</a:t>
            </a:r>
          </a:p>
          <a:p>
            <a:pPr>
              <a:spcAft>
                <a:spcPts val="1200"/>
              </a:spcAft>
              <a:defRPr sz="1800"/>
            </a:pPr>
            <a:r>
              <a:t>Bulk Operations: Generate and download all tickets as ZIP</a:t>
            </a:r>
          </a:p>
          <a:p>
            <a:pPr>
              <a:spcAft>
                <a:spcPts val="1200"/>
              </a:spcAft>
              <a:defRPr sz="1800"/>
            </a:pPr>
            <a:r>
              <a:t>Regeneration Capability: Lost/corrupted codes can be regenerated</a:t>
            </a:r>
          </a:p>
          <a:p>
            <a:pPr>
              <a:spcAft>
                <a:spcPts val="1200"/>
              </a:spcAft>
              <a:defRPr sz="1800"/>
            </a:pPr>
            <a:r>
              <a:t>Multi-layer Validation: Checksum, status, duplicate, and fraud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Intelligent Request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Student Submission: Request additional tickets with justification/reason</a:t>
            </a:r>
          </a:p>
          <a:p>
            <a:pPr>
              <a:spcAft>
                <a:spcPts val="1200"/>
              </a:spcAft>
              <a:defRPr sz="1800"/>
            </a:pPr>
            <a:r>
              <a:t>Admin Review Queue: Prioritized by submission date</a:t>
            </a:r>
          </a:p>
          <a:p>
            <a:pPr>
              <a:spcAft>
                <a:spcPts val="1200"/>
              </a:spcAft>
              <a:defRPr sz="1800"/>
            </a:pPr>
            <a:r>
              <a:t>Flexible Decisions: Approve exact amount, partial amount, deny, or waitlist</a:t>
            </a:r>
          </a:p>
          <a:p>
            <a:pPr>
              <a:spcAft>
                <a:spcPts val="1200"/>
              </a:spcAft>
              <a:defRPr sz="1800"/>
            </a:pPr>
            <a:r>
              <a:t>Admin Notes: Provide feedback and reasoning to students</a:t>
            </a:r>
          </a:p>
          <a:p>
            <a:pPr>
              <a:spcAft>
                <a:spcPts val="1200"/>
              </a:spcAft>
              <a:defRPr sz="1800"/>
            </a:pPr>
            <a:r>
              <a:t>Partial Approval: Can approve fewer tickets than requested</a:t>
            </a:r>
          </a:p>
          <a:p>
            <a:pPr>
              <a:spcAft>
                <a:spcPts val="1200"/>
              </a:spcAft>
              <a:defRPr sz="1800"/>
            </a:pPr>
            <a:r>
              <a:t>Waitlist System: Automatic redistribution when tickets become available</a:t>
            </a:r>
          </a:p>
          <a:p>
            <a:pPr>
              <a:spcAft>
                <a:spcPts val="1200"/>
              </a:spcAft>
              <a:defRPr sz="1800"/>
            </a:pPr>
            <a:r>
              <a:t>Deadline Enforcement: Respects per-ceremony request and redistribution deadlines</a:t>
            </a:r>
          </a:p>
          <a:p>
            <a:pPr>
              <a:spcAft>
                <a:spcPts val="1200"/>
              </a:spcAft>
              <a:defRPr sz="1800"/>
            </a:pPr>
            <a:r>
              <a:t>Duplicate Prevention: Only one active request per student at a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Multi-Layer 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Checksum Validation: Detects tampered or forged QR codes</a:t>
            </a:r>
          </a:p>
          <a:p>
            <a:pPr>
              <a:spcAft>
                <a:spcPts val="1200"/>
              </a:spcAft>
              <a:defRPr sz="1800"/>
            </a:pPr>
            <a:r>
              <a:t>Duplicate Detection: Prevents scanning the same ticket twice</a:t>
            </a:r>
          </a:p>
          <a:p>
            <a:pPr>
              <a:spcAft>
                <a:spcPts val="1200"/>
              </a:spcAft>
              <a:defRPr sz="1800"/>
            </a:pPr>
            <a:r>
              <a:t>Status Verification: Checks ticket validity, expiration, and active status</a:t>
            </a:r>
          </a:p>
          <a:p>
            <a:pPr>
              <a:spcAft>
                <a:spcPts val="1200"/>
              </a:spcAft>
              <a:defRPr sz="1800"/>
            </a:pPr>
            <a:r>
              <a:t>Entry Logging: Complete audit trail with timestamp, scanner, device, location</a:t>
            </a:r>
          </a:p>
          <a:p>
            <a:pPr>
              <a:spcAft>
                <a:spcPts val="1200"/>
              </a:spcAft>
              <a:defRPr sz="1800"/>
            </a:pPr>
            <a:r>
              <a:t>Fraud Case Management: Dedicated interface to review suspicious entries</a:t>
            </a:r>
          </a:p>
          <a:p>
            <a:pPr>
              <a:spcAft>
                <a:spcPts val="1200"/>
              </a:spcAft>
              <a:defRPr sz="1800"/>
            </a:pPr>
            <a:r>
              <a:t>Real-time Alerts: Instant notification of fraud attempts</a:t>
            </a:r>
          </a:p>
          <a:p>
            <a:pPr>
              <a:spcAft>
                <a:spcPts val="1200"/>
              </a:spcAft>
              <a:defRPr sz="1800"/>
            </a:pPr>
            <a:r>
              <a:t>Device Tracking: Logs scanner device information for accountability</a:t>
            </a:r>
          </a:p>
          <a:p>
            <a:pPr>
              <a:spcAft>
                <a:spcPts val="1200"/>
              </a:spcAft>
              <a:defRPr sz="1800"/>
            </a:pPr>
            <a:r>
              <a:t>Role-Based Authorization: Middleware-enforced access control on all routes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Comprehensive Analytics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Real-time Metrics: Total ceremonies, graduates, tickets, utilization rates</a:t>
            </a:r>
          </a:p>
          <a:p>
            <a:pPr>
              <a:spcAft>
                <a:spcPts val="1200"/>
              </a:spcAft>
              <a:defRPr sz="1800"/>
            </a:pPr>
            <a:r>
              <a:t>Interactive Charts: Faculty distribution, degree levels, ticket allocation vs usage</a:t>
            </a:r>
          </a:p>
          <a:p>
            <a:pPr>
              <a:spcAft>
                <a:spcPts val="1200"/>
              </a:spcAft>
              <a:defRPr sz="1800"/>
            </a:pPr>
            <a:r>
              <a:t>Request Analytics: Status breakdown (pending, approved, denied, waitlisted)</a:t>
            </a:r>
          </a:p>
          <a:p>
            <a:pPr>
              <a:spcAft>
                <a:spcPts val="1200"/>
              </a:spcAft>
              <a:defRPr sz="1800"/>
            </a:pPr>
            <a:r>
              <a:t>Entry Statistics: Successful scans, fraud attempts, duplicate attempts</a:t>
            </a:r>
          </a:p>
          <a:p>
            <a:pPr>
              <a:spcAft>
                <a:spcPts val="1200"/>
              </a:spcAft>
              <a:defRPr sz="1800"/>
            </a:pPr>
            <a:r>
              <a:t>Ceremony Analytics: Per-ceremony performance and capacity tracking</a:t>
            </a:r>
          </a:p>
          <a:p>
            <a:pPr>
              <a:spcAft>
                <a:spcPts val="1200"/>
              </a:spcAft>
              <a:defRPr sz="1800"/>
            </a:pPr>
            <a:r>
              <a:t>Upcoming Events: Next 5 ceremonies with graduate counts</a:t>
            </a:r>
          </a:p>
          <a:p>
            <a:pPr>
              <a:spcAft>
                <a:spcPts val="1200"/>
              </a:spcAft>
              <a:defRPr sz="1800"/>
            </a:pPr>
            <a:r>
              <a:t>Recent Activity: Latest requests and entry logs for quick monitoring</a:t>
            </a:r>
          </a:p>
          <a:p>
            <a:pPr>
              <a:spcAft>
                <a:spcPts val="1200"/>
              </a:spcAft>
              <a:defRPr sz="1800"/>
            </a:pPr>
            <a:r>
              <a:t>Staff Performance: Track which security staff scanned which tickets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Clean Architecture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Service Layer: TicketAllocationService, TicketRequestService, EntryVerificationService, QrCodeService</a:t>
            </a:r>
          </a:p>
          <a:p>
            <a:pPr>
              <a:spcAft>
                <a:spcPts val="1200"/>
              </a:spcAft>
              <a:defRPr sz="1800"/>
            </a:pPr>
            <a:r>
              <a:t>Resource Controllers: RESTful endpoints for ceremonies, graduates, tickets</a:t>
            </a:r>
          </a:p>
          <a:p>
            <a:pPr>
              <a:spcAft>
                <a:spcPts val="1200"/>
              </a:spcAft>
              <a:defRPr sz="1800"/>
            </a:pPr>
            <a:r>
              <a:t>Form Request Validation: Server-side validation with custom error messages</a:t>
            </a:r>
          </a:p>
          <a:p>
            <a:pPr>
              <a:spcAft>
                <a:spcPts val="1200"/>
              </a:spcAft>
              <a:defRPr sz="1800"/>
            </a:pPr>
            <a:r>
              <a:t>Eloquent Relationships: Optimized queries with eager loading to prevent N+1</a:t>
            </a:r>
          </a:p>
          <a:p>
            <a:pPr>
              <a:spcAft>
                <a:spcPts val="1200"/>
              </a:spcAft>
              <a:defRPr sz="1800"/>
            </a:pPr>
            <a:r>
              <a:t>Database Transactions: Ensures data integrity on critical operations</a:t>
            </a:r>
          </a:p>
          <a:p>
            <a:pPr>
              <a:spcAft>
                <a:spcPts val="1200"/>
              </a:spcAft>
              <a:defRPr sz="1800"/>
            </a:pPr>
            <a:r>
              <a:t>Event-Driven: Laravel events for ticket creation, status changes</a:t>
            </a:r>
          </a:p>
          <a:p>
            <a:pPr>
              <a:spcAft>
                <a:spcPts val="1200"/>
              </a:spcAft>
              <a:defRPr sz="1800"/>
            </a:pPr>
            <a:r>
              <a:t>API Resources: Structured JSON responses for frontend consumption</a:t>
            </a:r>
          </a:p>
          <a:p>
            <a:pPr>
              <a:spcAft>
                <a:spcPts val="1200"/>
              </a:spcAft>
              <a:defRPr sz="1800"/>
            </a:pPr>
            <a:r>
              <a:t>Repository Pattern: Clean separation of data access logic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Makes This System Unique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✓ Partial Request Approval: Approve fewer tickets than requested intelligently</a:t>
            </a:r>
          </a:p>
          <a:p>
            <a:pPr>
              <a:spcAft>
                <a:spcPts val="1200"/>
              </a:spcAft>
              <a:defRPr sz="1800"/>
            </a:pPr>
            <a:r>
              <a:t>✓ Automatic Redistribution: Waitlisted students automatically receive unused tickets</a:t>
            </a:r>
          </a:p>
          <a:p>
            <a:pPr>
              <a:spcAft>
                <a:spcPts val="1200"/>
              </a:spcAft>
              <a:defRPr sz="1800"/>
            </a:pPr>
            <a:r>
              <a:t>✓ Cryptographic QR Security: Industry-standard SHA256 checksums</a:t>
            </a:r>
          </a:p>
          <a:p>
            <a:pPr>
              <a:spcAft>
                <a:spcPts val="1200"/>
              </a:spcAft>
              <a:defRPr sz="1800"/>
            </a:pPr>
            <a:r>
              <a:t>✓ Comprehensive Audit Trail: Every action logged with complete traceability</a:t>
            </a:r>
          </a:p>
          <a:p>
            <a:pPr>
              <a:spcAft>
                <a:spcPts val="1200"/>
              </a:spcAft>
              <a:defRPr sz="1800"/>
            </a:pPr>
            <a:r>
              <a:t>✓ Bulk CSV Import: Import hundreds of graduates in seconds</a:t>
            </a:r>
          </a:p>
          <a:p>
            <a:pPr>
              <a:spcAft>
                <a:spcPts val="1200"/>
              </a:spcAft>
              <a:defRPr sz="1800"/>
            </a:pPr>
            <a:r>
              <a:t>✓ Fraud Detection AI: Multi-layer validation catches tampering attempts</a:t>
            </a:r>
          </a:p>
          <a:p>
            <a:pPr>
              <a:spcAft>
                <a:spcPts val="1200"/>
              </a:spcAft>
              <a:defRPr sz="1800"/>
            </a:pPr>
            <a:r>
              <a:t>✓ Real-time Analytics: Live dashboard updates without page refresh</a:t>
            </a:r>
          </a:p>
          <a:p>
            <a:pPr>
              <a:spcAft>
                <a:spcPts val="1200"/>
              </a:spcAft>
              <a:defRPr sz="1800"/>
            </a:pPr>
            <a:r>
              <a:t>✓ Mobile-Responsive: Works seamlessly on tablets and phones for scanning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Database Schema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886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03366"/>
                </a:solidFill>
              </a:defRPr>
            </a:pPr>
            <a:r>
              <a:t>Primary Tables</a:t>
            </a:r>
          </a:p>
          <a:p>
            <a:pPr>
              <a:spcAft>
                <a:spcPts val="800"/>
              </a:spcAft>
              <a:defRPr sz="1600"/>
            </a:pPr>
            <a:r>
              <a:t>• Tickets: ticket_code, qr_code_path, status, is_scanned, scanned_at, ticket_type</a:t>
            </a:r>
          </a:p>
          <a:p>
            <a:pPr>
              <a:spcAft>
                <a:spcPts val="800"/>
              </a:spcAft>
              <a:defRPr sz="1600"/>
            </a:pPr>
            <a:r>
              <a:t>• Graduates: student_id, degree_level, faculty, department</a:t>
            </a:r>
          </a:p>
          <a:p>
            <a:pPr>
              <a:spcAft>
                <a:spcPts val="800"/>
              </a:spcAft>
              <a:defRPr sz="1600"/>
            </a:pPr>
            <a:r>
              <a:t>• Ceremonies: date, venue, capacity, base_tickets_per_graduate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645920"/>
            <a:ext cx="3886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03366"/>
                </a:solidFill>
              </a:defRPr>
            </a:pPr>
            <a:r>
              <a:t>Supporting Tables</a:t>
            </a:r>
          </a:p>
          <a:p>
            <a:pPr>
              <a:spcAft>
                <a:spcPts val="800"/>
              </a:spcAft>
              <a:defRPr sz="1600"/>
            </a:pPr>
            <a:r>
              <a:t>• TicketRequests: status, requested_qty, approved_qty, reviewed_by, admin_notes</a:t>
            </a:r>
          </a:p>
          <a:p>
            <a:pPr>
              <a:spcAft>
                <a:spcPts val="800"/>
              </a:spcAft>
              <a:defRPr sz="1600"/>
            </a:pPr>
            <a:r>
              <a:t>• EntryLogs: verification_status, scanned_by, entry_point, device_info</a:t>
            </a:r>
          </a:p>
          <a:p>
            <a:pPr>
              <a:spcAft>
                <a:spcPts val="800"/>
              </a:spcAft>
              <a:defRPr sz="1600"/>
            </a:pPr>
            <a:r>
              <a:t>• Users: Multi-role with Spatie permissions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Efficient Batch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Bulk Graduate Import: CSV upload with validation and error reporting</a:t>
            </a:r>
          </a:p>
          <a:p>
            <a:pPr>
              <a:spcAft>
                <a:spcPts val="1200"/>
              </a:spcAft>
              <a:defRPr sz="1800"/>
            </a:pPr>
            <a:r>
              <a:t>Batch Request Processing: Review and approve multiple requests at once</a:t>
            </a:r>
          </a:p>
          <a:p>
            <a:pPr>
              <a:spcAft>
                <a:spcPts val="1200"/>
              </a:spcAft>
              <a:defRPr sz="1800"/>
            </a:pPr>
            <a:r>
              <a:t>Batch Ticket Generation: Create tickets for all approved requests simultaneously</a:t>
            </a:r>
          </a:p>
          <a:p>
            <a:pPr>
              <a:spcAft>
                <a:spcPts val="1200"/>
              </a:spcAft>
              <a:defRPr sz="1800"/>
            </a:pPr>
            <a:r>
              <a:t>Bulk QR Downloads: ZIP file export of all tickets for a ceremony</a:t>
            </a:r>
          </a:p>
          <a:p>
            <a:pPr>
              <a:spcAft>
                <a:spcPts val="1200"/>
              </a:spcAft>
              <a:defRPr sz="1800"/>
            </a:pPr>
            <a:r>
              <a:t>Batch Fraud Review: Review multiple suspicious entries together</a:t>
            </a:r>
          </a:p>
          <a:p>
            <a:pPr>
              <a:spcAft>
                <a:spcPts val="1200"/>
              </a:spcAft>
              <a:defRPr sz="1800"/>
            </a:pPr>
            <a:r>
              <a:t>Automatic Redistribution: Process entire waitlist when tickets available</a:t>
            </a:r>
          </a:p>
          <a:p>
            <a:pPr>
              <a:spcAft>
                <a:spcPts val="1200"/>
              </a:spcAft>
              <a:defRPr sz="1800"/>
            </a:pPr>
            <a:r>
              <a:t>Transaction Safety: All batch operations wrapped in database transactions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Quality Assurance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Pest Testing Framework: Modern PHP testing with expressive syntax</a:t>
            </a:r>
          </a:p>
          <a:p>
            <a:pPr>
              <a:spcAft>
                <a:spcPts val="1200"/>
              </a:spcAft>
              <a:defRPr sz="1800"/>
            </a:pPr>
            <a:r>
              <a:t>Feature Tests: Complete user flow testing from registration to entry</a:t>
            </a:r>
          </a:p>
          <a:p>
            <a:pPr>
              <a:spcAft>
                <a:spcPts val="1200"/>
              </a:spcAft>
              <a:defRPr sz="1800"/>
            </a:pPr>
            <a:r>
              <a:t>Unit Tests: Individual service and model method testing</a:t>
            </a:r>
          </a:p>
          <a:p>
            <a:pPr>
              <a:spcAft>
                <a:spcPts val="1200"/>
              </a:spcAft>
              <a:defRPr sz="1800"/>
            </a:pPr>
            <a:r>
              <a:t>Browser Tests: End-to-end testing with real browsers (Chrome, Firefox)</a:t>
            </a:r>
          </a:p>
          <a:p>
            <a:pPr>
              <a:spcAft>
                <a:spcPts val="1200"/>
              </a:spcAft>
              <a:defRPr sz="1800"/>
            </a:pPr>
            <a:r>
              <a:t>Laravel Pint: Automatic code formatting and style enforcement</a:t>
            </a:r>
          </a:p>
          <a:p>
            <a:pPr>
              <a:spcAft>
                <a:spcPts val="1200"/>
              </a:spcAft>
              <a:defRPr sz="1800"/>
            </a:pPr>
            <a:r>
              <a:t>ESLint &amp; Prettier: Frontend code quality and consistency</a:t>
            </a:r>
          </a:p>
          <a:p>
            <a:pPr>
              <a:spcAft>
                <a:spcPts val="1200"/>
              </a:spcAft>
              <a:defRPr sz="1800"/>
            </a:pPr>
            <a:r>
              <a:t>Form Request Validation: Server-side validation on all inputs</a:t>
            </a:r>
          </a:p>
          <a:p>
            <a:pPr>
              <a:spcAft>
                <a:spcPts val="1200"/>
              </a:spcAft>
              <a:defRPr sz="1800"/>
            </a:pPr>
            <a:r>
              <a:t>Security Testing: QR tampering, duplicate attempts, fraud scenarios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Production Ready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Laravel Sail: Docker-based development environment for consistency</a:t>
            </a:r>
          </a:p>
          <a:p>
            <a:pPr>
              <a:spcAft>
                <a:spcPts val="1200"/>
              </a:spcAft>
              <a:defRPr sz="1800"/>
            </a:pPr>
            <a:r>
              <a:t>Vite HMR: Hot module replacement for fast frontend development</a:t>
            </a:r>
          </a:p>
          <a:p>
            <a:pPr>
              <a:spcAft>
                <a:spcPts val="1200"/>
              </a:spcAft>
              <a:defRPr sz="1800"/>
            </a:pPr>
            <a:r>
              <a:t>Database: SQLite (dev), MySQL/PostgreSQL ready for production</a:t>
            </a:r>
          </a:p>
          <a:p>
            <a:pPr>
              <a:spcAft>
                <a:spcPts val="1200"/>
              </a:spcAft>
              <a:defRPr sz="1800"/>
            </a:pPr>
            <a:r>
              <a:t>File Storage: Local (dev), S3-compatible storage for production</a:t>
            </a:r>
          </a:p>
          <a:p>
            <a:pPr>
              <a:spcAft>
                <a:spcPts val="1200"/>
              </a:spcAft>
              <a:defRPr sz="1800"/>
            </a:pPr>
            <a:r>
              <a:t>Queue System: Database queues ready for Redis/SQS in production</a:t>
            </a:r>
          </a:p>
          <a:p>
            <a:pPr>
              <a:spcAft>
                <a:spcPts val="1200"/>
              </a:spcAft>
              <a:defRPr sz="1800"/>
            </a:pPr>
            <a:r>
              <a:t>Caching: Application, route, and config caching for performance</a:t>
            </a:r>
          </a:p>
          <a:p>
            <a:pPr>
              <a:spcAft>
                <a:spcPts val="1200"/>
              </a:spcAft>
              <a:defRPr sz="1800"/>
            </a:pPr>
            <a:r>
              <a:t>Environment Config: Proper separation of dev/staging/production settings</a:t>
            </a:r>
          </a:p>
          <a:p>
            <a:pPr>
              <a:spcAft>
                <a:spcPts val="1200"/>
              </a:spcAft>
              <a:defRPr sz="1800"/>
            </a:pPr>
            <a:r>
              <a:t>Git Workflow: Feature branches with pull request reviews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Superior User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Responsive Design: Works perfectly on desktop, tablet, and mobile devices</a:t>
            </a:r>
          </a:p>
          <a:p>
            <a:pPr>
              <a:spcAft>
                <a:spcPts val="1200"/>
              </a:spcAft>
              <a:defRPr sz="1800"/>
            </a:pPr>
            <a:r>
              <a:t>Real-time Updates: Instant feedback on all actions without page reloads</a:t>
            </a:r>
          </a:p>
          <a:p>
            <a:pPr>
              <a:spcAft>
                <a:spcPts val="1200"/>
              </a:spcAft>
              <a:defRPr sz="1800"/>
            </a:pPr>
            <a:r>
              <a:t>Intuitive Navigation: Clean, logical flow through all user journeys</a:t>
            </a:r>
          </a:p>
          <a:p>
            <a:pPr>
              <a:spcAft>
                <a:spcPts val="1200"/>
              </a:spcAft>
              <a:defRPr sz="1800"/>
            </a:pPr>
            <a:r>
              <a:t>Professional PDFs: Well-designed ticket downloads with QR codes</a:t>
            </a:r>
          </a:p>
          <a:p>
            <a:pPr>
              <a:spcAft>
                <a:spcPts val="1200"/>
              </a:spcAft>
              <a:defRPr sz="1800"/>
            </a:pPr>
            <a:r>
              <a:t>Error Handling: Clear, helpful error messages guide users</a:t>
            </a:r>
          </a:p>
          <a:p>
            <a:pPr>
              <a:spcAft>
                <a:spcPts val="1200"/>
              </a:spcAft>
              <a:defRPr sz="1800"/>
            </a:pPr>
            <a:r>
              <a:t>Loading States: Skeleton loaders and spinners for better perceived performance</a:t>
            </a:r>
          </a:p>
          <a:p>
            <a:pPr>
              <a:spcAft>
                <a:spcPts val="1200"/>
              </a:spcAft>
              <a:defRPr sz="1800"/>
            </a:pPr>
            <a:r>
              <a:t>Dark Mode Support: TailwindCSS dark mode for reduced eye strain</a:t>
            </a:r>
          </a:p>
          <a:p>
            <a:pPr>
              <a:spcAft>
                <a:spcPts val="1200"/>
              </a:spcAft>
              <a:defRPr sz="1800"/>
            </a:pPr>
            <a:r>
              <a:t>Accessibility: Semantic HTML and ARIA labels for screen readers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Project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Backend: 6 Eloquent Models, 8 Controllers, 4 Service Classes</a:t>
            </a:r>
          </a:p>
          <a:p>
            <a:pPr>
              <a:spcAft>
                <a:spcPts val="1200"/>
              </a:spcAft>
              <a:defRPr sz="1800"/>
            </a:pPr>
            <a:r>
              <a:t>Frontend: 20+ Vue Components, 15+ Page Components</a:t>
            </a:r>
          </a:p>
          <a:p>
            <a:pPr>
              <a:spcAft>
                <a:spcPts val="1200"/>
              </a:spcAft>
              <a:defRPr sz="1800"/>
            </a:pPr>
            <a:r>
              <a:t>Database: 10 Migration Files, complete relational schema</a:t>
            </a:r>
          </a:p>
          <a:p>
            <a:pPr>
              <a:spcAft>
                <a:spcPts val="1200"/>
              </a:spcAft>
              <a:defRPr sz="1800"/>
            </a:pPr>
            <a:r>
              <a:t>Validation: 7 Form Request Classes with custom error messages</a:t>
            </a:r>
          </a:p>
          <a:p>
            <a:pPr>
              <a:spcAft>
                <a:spcPts val="1200"/>
              </a:spcAft>
              <a:defRPr sz="1800"/>
            </a:pPr>
            <a:r>
              <a:t>Testing: Feature tests, unit tests, browser tests with Pest v4</a:t>
            </a:r>
          </a:p>
          <a:p>
            <a:pPr>
              <a:spcAft>
                <a:spcPts val="1200"/>
              </a:spcAft>
              <a:defRPr sz="1800"/>
            </a:pPr>
            <a:r>
              <a:t>Dependencies: 25+ Composer packages, 20+ NPM packages</a:t>
            </a:r>
          </a:p>
          <a:p>
            <a:pPr>
              <a:spcAft>
                <a:spcPts val="1200"/>
              </a:spcAft>
              <a:defRPr sz="1800"/>
            </a:pPr>
            <a:r>
              <a:t>Code Quality: Laravel Pint formatting, ESLint + Prettier for JS</a:t>
            </a:r>
          </a:p>
          <a:p>
            <a:pPr>
              <a:spcAft>
                <a:spcPts val="1200"/>
              </a:spcAft>
              <a:defRPr sz="1800"/>
            </a:pPr>
            <a:r>
              <a:t>Documentation: Comprehensive code comments and PHPDoc blocks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Potential Future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SMS/Email Notifications: Auto-notify students of ticket approvals and ceremony reminders</a:t>
            </a:r>
          </a:p>
          <a:p>
            <a:pPr>
              <a:spcAft>
                <a:spcPts val="1200"/>
              </a:spcAft>
              <a:defRPr sz="1800"/>
            </a:pPr>
            <a:r>
              <a:t>Mobile App: Native iOS/Android apps for ticket management and scanning</a:t>
            </a:r>
          </a:p>
          <a:p>
            <a:pPr>
              <a:spcAft>
                <a:spcPts val="1200"/>
              </a:spcAft>
              <a:defRPr sz="1800"/>
            </a:pPr>
            <a:r>
              <a:t>Digital Wallet Integration: Add tickets to Apple Wallet / Google Pay</a:t>
            </a:r>
          </a:p>
          <a:p>
            <a:pPr>
              <a:spcAft>
                <a:spcPts val="1200"/>
              </a:spcAft>
              <a:defRPr sz="1800"/>
            </a:pPr>
            <a:r>
              <a:t>Guest Information Collection: Capture guest names and contact details</a:t>
            </a:r>
          </a:p>
          <a:p>
            <a:pPr>
              <a:spcAft>
                <a:spcPts val="1200"/>
              </a:spcAft>
              <a:defRPr sz="1800"/>
            </a:pPr>
            <a:r>
              <a:t>Seating Assignments: Allocate specific seats based on ticket codes</a:t>
            </a:r>
          </a:p>
          <a:p>
            <a:pPr>
              <a:spcAft>
                <a:spcPts val="1200"/>
              </a:spcAft>
              <a:defRPr sz="1800"/>
            </a:pPr>
            <a:r>
              <a:t>Real-time Capacity Dashboard: Live view of ceremony attendance</a:t>
            </a:r>
          </a:p>
          <a:p>
            <a:pPr>
              <a:spcAft>
                <a:spcPts val="1200"/>
              </a:spcAft>
              <a:defRPr sz="1800"/>
            </a:pPr>
            <a:r>
              <a:t>Multi-Language Support: Interface translation for international students</a:t>
            </a:r>
          </a:p>
          <a:p>
            <a:pPr>
              <a:spcAft>
                <a:spcPts val="1200"/>
              </a:spcAft>
              <a:defRPr sz="1800"/>
            </a:pPr>
            <a:r>
              <a:t>API for Third-party Integration: Allow integration with university systems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Complex Problems Addressed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Challenge: Prevent QR code forgery → Solution: SHA256 cryptographic checksums</a:t>
            </a:r>
          </a:p>
          <a:p>
            <a:pPr>
              <a:spcAft>
                <a:spcPts val="1200"/>
              </a:spcAft>
              <a:defRPr sz="1800"/>
            </a:pPr>
            <a:r>
              <a:t>Challenge: Fair ticket distribution → Solution: Waitlist with automatic redistribution</a:t>
            </a:r>
          </a:p>
          <a:p>
            <a:pPr>
              <a:spcAft>
                <a:spcPts val="1200"/>
              </a:spcAft>
              <a:defRPr sz="1800"/>
            </a:pPr>
            <a:r>
              <a:t>Challenge: Duplicate entry attempts → Solution: Entry logging with duplicate detection</a:t>
            </a:r>
          </a:p>
          <a:p>
            <a:pPr>
              <a:spcAft>
                <a:spcPts val="1200"/>
              </a:spcAft>
              <a:defRPr sz="1800"/>
            </a:pPr>
            <a:r>
              <a:t>Challenge: Scalability for large ceremonies → Solution: Efficient queries with eager loading</a:t>
            </a:r>
          </a:p>
          <a:p>
            <a:pPr>
              <a:spcAft>
                <a:spcPts val="1200"/>
              </a:spcAft>
              <a:defRPr sz="1800"/>
            </a:pPr>
            <a:r>
              <a:t>Challenge: User-friendly scanning → Solution: Real-time validation with clear feedback</a:t>
            </a:r>
          </a:p>
          <a:p>
            <a:pPr>
              <a:spcAft>
                <a:spcPts val="1200"/>
              </a:spcAft>
              <a:defRPr sz="1800"/>
            </a:pPr>
            <a:r>
              <a:t>Challenge: Data integrity → Solution: Database transactions and foreign key constraints</a:t>
            </a:r>
          </a:p>
          <a:p>
            <a:pPr>
              <a:spcAft>
                <a:spcPts val="1200"/>
              </a:spcAft>
              <a:defRPr sz="1800"/>
            </a:pPr>
            <a:r>
              <a:t>Challenge: Request deadline management → Solution: Automated deadline enforcement</a:t>
            </a:r>
          </a:p>
          <a:p>
            <a:pPr>
              <a:spcAft>
                <a:spcPts val="1200"/>
              </a:spcAft>
              <a:defRPr sz="1800"/>
            </a:pPr>
            <a:r>
              <a:t>Challenge: Audit compliance → Solution: Complete entry logs with immutable records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Business Impact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Efficiency: Automated allocation saves hours of manual work</a:t>
            </a:r>
          </a:p>
          <a:p>
            <a:pPr>
              <a:spcAft>
                <a:spcPts val="1200"/>
              </a:spcAft>
              <a:defRPr sz="1800"/>
            </a:pPr>
            <a:r>
              <a:t>Accuracy: Eliminates errors from manual ticket distribution</a:t>
            </a:r>
          </a:p>
          <a:p>
            <a:pPr>
              <a:spcAft>
                <a:spcPts val="1200"/>
              </a:spcAft>
              <a:defRPr sz="1800"/>
            </a:pPr>
            <a:r>
              <a:t>Security: Fraud detection protects ceremony integrity</a:t>
            </a:r>
          </a:p>
          <a:p>
            <a:pPr>
              <a:spcAft>
                <a:spcPts val="1200"/>
              </a:spcAft>
              <a:defRPr sz="1800"/>
            </a:pPr>
            <a:r>
              <a:t>Transparency: Complete audit trail for compliance and disputes</a:t>
            </a:r>
          </a:p>
          <a:p>
            <a:pPr>
              <a:spcAft>
                <a:spcPts val="1200"/>
              </a:spcAft>
              <a:defRPr sz="1800"/>
            </a:pPr>
            <a:r>
              <a:t>Scalability: Handles hundreds of graduates and thousands of tickets</a:t>
            </a:r>
          </a:p>
          <a:p>
            <a:pPr>
              <a:spcAft>
                <a:spcPts val="1200"/>
              </a:spcAft>
              <a:defRPr sz="1800"/>
            </a:pPr>
            <a:r>
              <a:t>Cost Savings: Reduces staff time and eliminates paper tickets</a:t>
            </a:r>
          </a:p>
          <a:p>
            <a:pPr>
              <a:spcAft>
                <a:spcPts val="1200"/>
              </a:spcAft>
              <a:defRPr sz="1800"/>
            </a:pPr>
            <a:r>
              <a:t>Student Satisfaction: Clear process, instant feedback, easy downloads</a:t>
            </a:r>
          </a:p>
          <a:p>
            <a:pPr>
              <a:spcAft>
                <a:spcPts val="1200"/>
              </a:spcAft>
              <a:defRPr sz="1800"/>
            </a:pPr>
            <a:r>
              <a:t>Data Insights: Analytics inform future ceremony planning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Live Demo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1. Admin creates ceremony and sets ticket allocation rules</a:t>
            </a:r>
          </a:p>
          <a:p>
            <a:pPr>
              <a:spcAft>
                <a:spcPts val="1200"/>
              </a:spcAft>
              <a:defRPr sz="1800"/>
            </a:pPr>
            <a:r>
              <a:t>2. Registry imports graduates via CSV bulk upload</a:t>
            </a:r>
          </a:p>
          <a:p>
            <a:pPr>
              <a:spcAft>
                <a:spcPts val="1200"/>
              </a:spcAft>
              <a:defRPr sz="1800"/>
            </a:pPr>
            <a:r>
              <a:t>3. System automatically allocates base tickets to all graduates</a:t>
            </a:r>
          </a:p>
          <a:p>
            <a:pPr>
              <a:spcAft>
                <a:spcPts val="1200"/>
              </a:spcAft>
              <a:defRPr sz="1800"/>
            </a:pPr>
            <a:r>
              <a:t>4. Student logs in and requests additional tickets with reason</a:t>
            </a:r>
          </a:p>
          <a:p>
            <a:pPr>
              <a:spcAft>
                <a:spcPts val="1200"/>
              </a:spcAft>
              <a:defRPr sz="1800"/>
            </a:pPr>
            <a:r>
              <a:t>5. Admin reviews request and partially approves (2 of 3 requested)</a:t>
            </a:r>
          </a:p>
          <a:p>
            <a:pPr>
              <a:spcAft>
                <a:spcPts val="1200"/>
              </a:spcAft>
              <a:defRPr sz="1800"/>
            </a:pPr>
            <a:r>
              <a:t>6. Student downloads PDF tickets with QR codes</a:t>
            </a:r>
          </a:p>
          <a:p>
            <a:pPr>
              <a:spcAft>
                <a:spcPts val="1200"/>
              </a:spcAft>
              <a:defRPr sz="1800"/>
            </a:pPr>
            <a:r>
              <a:t>7. Security staff scans QR at ceremony entrance</a:t>
            </a:r>
          </a:p>
          <a:p>
            <a:pPr>
              <a:spcAft>
                <a:spcPts val="1200"/>
              </a:spcAft>
              <a:defRPr sz="1800"/>
            </a:pPr>
            <a:r>
              <a:t>8. System validates, logs entry, and displays success/fraud alert</a:t>
            </a:r>
          </a:p>
          <a:p>
            <a:pPr>
              <a:spcAft>
                <a:spcPts val="1200"/>
              </a:spcAft>
              <a:defRPr sz="1800"/>
            </a:pPr>
            <a:r>
              <a:t>9. Admin views analytics dashboard with real-time statistics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Learning &amp; Skills Developed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Full-stack development with modern Laravel and Vue ecosystem</a:t>
            </a:r>
          </a:p>
          <a:p>
            <a:pPr>
              <a:spcAft>
                <a:spcPts val="1200"/>
              </a:spcAft>
              <a:defRPr sz="1800"/>
            </a:pPr>
            <a:r>
              <a:t>Database design with complex relationships and constraints</a:t>
            </a:r>
          </a:p>
          <a:p>
            <a:pPr>
              <a:spcAft>
                <a:spcPts val="1200"/>
              </a:spcAft>
              <a:defRPr sz="1800"/>
            </a:pPr>
            <a:r>
              <a:t>RESTful API design and implementation</a:t>
            </a:r>
          </a:p>
          <a:p>
            <a:pPr>
              <a:spcAft>
                <a:spcPts val="1200"/>
              </a:spcAft>
              <a:defRPr sz="1800"/>
            </a:pPr>
            <a:r>
              <a:t>Authentication, authorization, and role-based access control</a:t>
            </a:r>
          </a:p>
          <a:p>
            <a:pPr>
              <a:spcAft>
                <a:spcPts val="1200"/>
              </a:spcAft>
              <a:defRPr sz="1800"/>
            </a:pPr>
            <a:r>
              <a:t>QR code generation and cryptographic validation</a:t>
            </a:r>
          </a:p>
          <a:p>
            <a:pPr>
              <a:spcAft>
                <a:spcPts val="1200"/>
              </a:spcAft>
              <a:defRPr sz="1800"/>
            </a:pPr>
            <a:r>
              <a:t>PDF generation and document management</a:t>
            </a:r>
          </a:p>
          <a:p>
            <a:pPr>
              <a:spcAft>
                <a:spcPts val="1200"/>
              </a:spcAft>
              <a:defRPr sz="1800"/>
            </a:pPr>
            <a:r>
              <a:t>Real-time data visualization with Chart.js</a:t>
            </a:r>
          </a:p>
          <a:p>
            <a:pPr>
              <a:spcAft>
                <a:spcPts val="1200"/>
              </a:spcAft>
              <a:defRPr sz="1800"/>
            </a:pPr>
            <a:r>
              <a:t>Testing strategies: unit, feature, and browser tests</a:t>
            </a:r>
          </a:p>
          <a:p>
            <a:pPr>
              <a:spcAft>
                <a:spcPts val="1200"/>
              </a:spcAft>
              <a:defRPr sz="1800"/>
            </a:pPr>
            <a:r>
              <a:t>DevOps: Docker, version control, CI/CD readiness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Technical Skills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886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03366"/>
                </a:solidFill>
              </a:defRPr>
            </a:pPr>
            <a:r>
              <a:t>Backend Mastery</a:t>
            </a:r>
          </a:p>
          <a:p>
            <a:pPr>
              <a:spcAft>
                <a:spcPts val="800"/>
              </a:spcAft>
              <a:defRPr sz="1600"/>
            </a:pPr>
            <a:r>
              <a:t>• Laravel 12 framework</a:t>
            </a:r>
          </a:p>
          <a:p>
            <a:pPr>
              <a:spcAft>
                <a:spcPts val="800"/>
              </a:spcAft>
              <a:defRPr sz="1600"/>
            </a:pPr>
            <a:r>
              <a:t>• Eloquent ORM &amp; Query Builder</a:t>
            </a:r>
          </a:p>
          <a:p>
            <a:pPr>
              <a:spcAft>
                <a:spcPts val="800"/>
              </a:spcAft>
              <a:defRPr sz="1600"/>
            </a:pPr>
            <a:r>
              <a:t>• Inertia.js SSR architecture</a:t>
            </a:r>
          </a:p>
          <a:p>
            <a:pPr>
              <a:spcAft>
                <a:spcPts val="800"/>
              </a:spcAft>
              <a:defRPr sz="1600"/>
            </a:pPr>
            <a:r>
              <a:t>• Vue 3 Composition API</a:t>
            </a:r>
          </a:p>
          <a:p>
            <a:pPr>
              <a:spcAft>
                <a:spcPts val="800"/>
              </a:spcAft>
              <a:defRPr sz="1600"/>
            </a:pPr>
            <a:r>
              <a:t>• TypeScript integration</a:t>
            </a:r>
          </a:p>
          <a:p>
            <a:pPr>
              <a:spcAft>
                <a:spcPts val="800"/>
              </a:spcAft>
              <a:defRPr sz="1600"/>
            </a:pPr>
            <a:r>
              <a:t>• Spatie Laravel Permission</a:t>
            </a:r>
          </a:p>
          <a:p>
            <a:pPr>
              <a:spcAft>
                <a:spcPts val="800"/>
              </a:spcAft>
              <a:defRPr sz="1600"/>
            </a:pPr>
            <a:r>
              <a:t>• DomPDF &amp; FPDF libraries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645920"/>
            <a:ext cx="3886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03366"/>
                </a:solidFill>
              </a:defRPr>
            </a:pPr>
            <a:r>
              <a:t>Frontend Excellence</a:t>
            </a:r>
          </a:p>
          <a:p>
            <a:pPr>
              <a:spcAft>
                <a:spcPts val="800"/>
              </a:spcAft>
              <a:defRPr sz="1600"/>
            </a:pPr>
            <a:r>
              <a:t>• TailwindCSS v4 utility classes</a:t>
            </a:r>
          </a:p>
          <a:p>
            <a:pPr>
              <a:spcAft>
                <a:spcPts val="800"/>
              </a:spcAft>
              <a:defRPr sz="1600"/>
            </a:pPr>
            <a:r>
              <a:t>• Chart.js data visualization</a:t>
            </a:r>
          </a:p>
          <a:p>
            <a:pPr>
              <a:spcAft>
                <a:spcPts val="800"/>
              </a:spcAft>
              <a:defRPr sz="1600"/>
            </a:pPr>
            <a:r>
              <a:t>• QR code generation &amp; validation</a:t>
            </a:r>
          </a:p>
          <a:p>
            <a:pPr>
              <a:spcAft>
                <a:spcPts val="800"/>
              </a:spcAft>
              <a:defRPr sz="1600"/>
            </a:pPr>
            <a:r>
              <a:t>• Pest v4 testing framework</a:t>
            </a:r>
          </a:p>
          <a:p>
            <a:pPr>
              <a:spcAft>
                <a:spcPts val="800"/>
              </a:spcAft>
              <a:defRPr sz="1600"/>
            </a:pPr>
            <a:r>
              <a:t>• Laravel Wayfinder routing</a:t>
            </a:r>
          </a:p>
          <a:p>
            <a:pPr>
              <a:spcAft>
                <a:spcPts val="800"/>
              </a:spcAft>
              <a:defRPr sz="1600"/>
            </a:pPr>
            <a:r>
              <a:t>• Vite build optimization</a:t>
            </a:r>
          </a:p>
          <a:p>
            <a:pPr>
              <a:spcAft>
                <a:spcPts val="800"/>
              </a:spcAft>
              <a:defRPr sz="1600"/>
            </a:pPr>
            <a:r>
              <a:t>• Docker containerization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Best Practices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PSR-12 Code Style: Enforced by Laravel Pint automatically</a:t>
            </a:r>
          </a:p>
          <a:p>
            <a:pPr>
              <a:spcAft>
                <a:spcPts val="1200"/>
              </a:spcAft>
              <a:defRPr sz="1800"/>
            </a:pPr>
            <a:r>
              <a:t>SOLID Principles: Service layer separates business logic from controllers</a:t>
            </a:r>
          </a:p>
          <a:p>
            <a:pPr>
              <a:spcAft>
                <a:spcPts val="1200"/>
              </a:spcAft>
              <a:defRPr sz="1800"/>
            </a:pPr>
            <a:r>
              <a:t>DRY (Don't Repeat Yourself): Reusable components and services</a:t>
            </a:r>
          </a:p>
          <a:p>
            <a:pPr>
              <a:spcAft>
                <a:spcPts val="1200"/>
              </a:spcAft>
              <a:defRPr sz="1800"/>
            </a:pPr>
            <a:r>
              <a:t>Security First: OWASP top 10 vulnerabilities addressed</a:t>
            </a:r>
          </a:p>
          <a:p>
            <a:pPr>
              <a:spcAft>
                <a:spcPts val="1200"/>
              </a:spcAft>
              <a:defRPr sz="1800"/>
            </a:pPr>
            <a:r>
              <a:t>Type Safety: TypeScript and PHP type hints throughout</a:t>
            </a:r>
          </a:p>
          <a:p>
            <a:pPr>
              <a:spcAft>
                <a:spcPts val="1200"/>
              </a:spcAft>
              <a:defRPr sz="1800"/>
            </a:pPr>
            <a:r>
              <a:t>Clean Code: Descriptive naming, single responsibility functions</a:t>
            </a:r>
          </a:p>
          <a:p>
            <a:pPr>
              <a:spcAft>
                <a:spcPts val="1200"/>
              </a:spcAft>
              <a:defRPr sz="1800"/>
            </a:pPr>
            <a:r>
              <a:t>Documentation: PHPDoc blocks and inline comments where needed</a:t>
            </a:r>
          </a:p>
          <a:p>
            <a:pPr>
              <a:spcAft>
                <a:spcPts val="1200"/>
              </a:spcAft>
              <a:defRPr sz="1800"/>
            </a:pPr>
            <a:r>
              <a:t>Version Control: Semantic commits with clear messages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Successfully delivered a production-grade ticketing system</a:t>
            </a:r>
          </a:p>
          <a:p>
            <a:pPr>
              <a:spcAft>
                <a:spcPts val="1200"/>
              </a:spcAft>
              <a:defRPr sz="1800"/>
            </a:pPr>
            <a:r>
              <a:t>Comprehensive feature set covering entire ticket lifecycle</a:t>
            </a:r>
          </a:p>
          <a:p>
            <a:pPr>
              <a:spcAft>
                <a:spcPts val="1200"/>
              </a:spcAft>
              <a:defRPr sz="1800"/>
            </a:pPr>
            <a:r>
              <a:t>Modern tech stack with Laravel 12 and Vue 3</a:t>
            </a:r>
          </a:p>
          <a:p>
            <a:pPr>
              <a:spcAft>
                <a:spcPts val="1200"/>
              </a:spcAft>
              <a:defRPr sz="1800"/>
            </a:pPr>
            <a:r>
              <a:t>Advanced security with QR validation and fraud detection</a:t>
            </a:r>
          </a:p>
          <a:p>
            <a:pPr>
              <a:spcAft>
                <a:spcPts val="1200"/>
              </a:spcAft>
              <a:defRPr sz="1800"/>
            </a:pPr>
            <a:r>
              <a:t>Scalable architecture ready for thousands of users</a:t>
            </a:r>
          </a:p>
          <a:p>
            <a:pPr>
              <a:spcAft>
                <a:spcPts val="1200"/>
              </a:spcAft>
              <a:defRPr sz="1800"/>
            </a:pPr>
            <a:r>
              <a:t>Clean, maintainable code following best practices</a:t>
            </a:r>
          </a:p>
          <a:p>
            <a:pPr>
              <a:spcAft>
                <a:spcPts val="1200"/>
              </a:spcAft>
              <a:defRPr sz="1800"/>
            </a:pPr>
            <a:r>
              <a:t>Complete testing coverage for reliability</a:t>
            </a:r>
          </a:p>
          <a:p>
            <a:pPr>
              <a:spcAft>
                <a:spcPts val="1200"/>
              </a:spcAft>
              <a:defRPr sz="1800"/>
            </a:pPr>
            <a:r>
              <a:t>Valuable learning experience in full-stack development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3366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Graduation Guest Ticketing System</a:t>
            </a:r>
          </a:p>
          <a:p>
            <a:pPr algn="ctr">
              <a:defRPr sz="2400">
                <a:solidFill>
                  <a:srgbClr val="646464"/>
                </a:solidFill>
              </a:defRPr>
            </a:pPr>
            <a:r>
              <a:t>Northumbria University London Campus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